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3"/><Relationship Id="rId3" Type="http://schemas.openxmlformats.org/officeDocument/2006/relationships/video" Target="../media/media1.mp3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3"/><Relationship Id="rId3" Type="http://schemas.openxmlformats.org/officeDocument/2006/relationships/video" Target="../media/media2.mp3"/><Relationship Id="rId4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3"/><Relationship Id="rId3" Type="http://schemas.openxmlformats.org/officeDocument/2006/relationships/video" Target="../media/media3.mp3"/><Relationship Id="rId4" Type="http://schemas.openxmlformats.org/officeDocument/2006/relationships/image" Target="../media/image4.png"/><Relationship Id="rId5" Type="http://schemas.microsoft.com/office/2007/relationships/media" Target="../media/media4.mp3"/><Relationship Id="rId6" Type="http://schemas.openxmlformats.org/officeDocument/2006/relationships/video" Target="../media/media4.mp3"/><Relationship Id="rId7" Type="http://schemas.microsoft.com/office/2007/relationships/media" Target="../media/media5.mp3"/><Relationship Id="rId8" Type="http://schemas.openxmlformats.org/officeDocument/2006/relationships/video" Target="../media/media5.mp3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3"/><Relationship Id="rId3" Type="http://schemas.openxmlformats.org/officeDocument/2006/relationships/video" Target="../media/media6.mp3"/><Relationship Id="rId4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493482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课程项目 · 音乐 AI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1798275"/>
            <a:ext cx="9905752" cy="9380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0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一个项目，两个任务，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43" y="2736327"/>
            <a:ext cx="9905752" cy="9380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0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五个负结果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43" y="3750577"/>
            <a:ext cx="9143771" cy="397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音乐流派分类 × 音频 Token 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43" y="4285213"/>
            <a:ext cx="9143771" cy="2248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8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GTZAN 985 · FMA-small 7,994 · 6 模型 · 3 种子 · 42 页报告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70543" y="4708188"/>
            <a:ext cx="5791055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0543" y="4906303"/>
            <a:ext cx="9143771" cy="2248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8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组员　梁煜炜 · 贾智涵 · 王薪羽 · 陈泽玉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01 /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904952"/>
            <a:ext cx="10820129" cy="8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56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同一批音乐，模型能听懂多少？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3581310"/>
            <a:ext cx="4724281" cy="319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p(流派 | 音频)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43" y="3966141"/>
            <a:ext cx="4724281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判别式　答对几成　Macro-F1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243" y="3581310"/>
            <a:ext cx="5333866" cy="319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p(下一个 Token | 前 5 秒)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243" y="3966141"/>
            <a:ext cx="5333866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生成式　离真相多远　Top-1 / Log-Mel RMSE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70543" y="4952876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0543" y="5150991"/>
            <a:ext cx="9143771" cy="249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同一份数据划分 · 同一批测试曲目 · 指标不可比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142971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数据从哪来：985 首，和 7,994 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2042108"/>
            <a:ext cx="4267093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59553" y="2042108"/>
            <a:ext cx="3291757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GTZAN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1311" y="2042108"/>
            <a:ext cx="3291757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FMA-small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70543" y="2307351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0543" y="2477413"/>
            <a:ext cx="4267093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2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曲目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59553" y="2477413"/>
            <a:ext cx="3291757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32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985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1311" y="2477413"/>
            <a:ext cx="3291757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32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7,994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0543" y="2886456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0543" y="3056518"/>
            <a:ext cx="4267093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2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类别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9553" y="3056518"/>
            <a:ext cx="3291757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32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1311" y="3056518"/>
            <a:ext cx="3291757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32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0543" y="3465562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0543" y="3635624"/>
            <a:ext cx="4267093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2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训练 / 验证 / 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9553" y="3635624"/>
            <a:ext cx="3291757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32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690 / 147 / 147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1311" y="3635624"/>
            <a:ext cx="3291757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32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5,596 / 1,199 / 1,199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0543" y="4044668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0543" y="4214729"/>
            <a:ext cx="4267093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2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模型输入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9553" y="4214729"/>
            <a:ext cx="3291757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32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中心 5 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311" y="4214729"/>
            <a:ext cx="3291757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32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中心 5 秒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0543" y="4623773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0543" y="4793835"/>
            <a:ext cx="4267093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2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采样率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9553" y="4793835"/>
            <a:ext cx="3291757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32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22.05 kHz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1311" y="4793835"/>
            <a:ext cx="3291757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32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22.05 kHz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0543" y="5202879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70543" y="5333866"/>
            <a:ext cx="9143771" cy="2248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8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素材本身是 30 秒，但模型全程只听中心 5 秒。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来源：docs/repo_overview.md §2 · 报告 §3.4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142971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一个很容易做错的划分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1904952"/>
            <a:ext cx="3962300" cy="1419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0.470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1885" y="2285942"/>
            <a:ext cx="914377" cy="699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33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055" y="1904952"/>
            <a:ext cx="4724281" cy="1419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0">
                <a:solidFill>
                  <a:srgbClr val="2F5B4F"/>
                </a:solidFill>
                <a:latin typeface="Consolas"/>
                <a:ea typeface="SimHei"/>
                <a:cs typeface="SimHei"/>
              </a:rPr>
              <a:t>0.568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43" y="3700319"/>
            <a:ext cx="2590735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2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同一批特征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195" y="3700319"/>
            <a:ext cx="5029074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2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209 维人工特征，一个都没换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0543" y="4086503"/>
            <a:ext cx="7619809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0543" y="4233706"/>
            <a:ext cx="2590735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2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同一个 CNN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195" y="4233706"/>
            <a:ext cx="5029074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2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同一份权重、同一个种子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0543" y="4619890"/>
            <a:ext cx="7619809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0543" y="4767093"/>
            <a:ext cx="2590735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2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换的只是划分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195" y="4767093"/>
            <a:ext cx="5029074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2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「按艺术家划分」→「按曲目划分」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0543" y="5153277"/>
            <a:ext cx="7619809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0543" y="5412350"/>
            <a:ext cx="9143771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20" b="1">
                <a:solidFill>
                  <a:srgbClr val="C0512F"/>
                </a:solidFill>
                <a:latin typeface="Arial"/>
                <a:ea typeface="SimHei"/>
                <a:cs typeface="SimHei"/>
              </a:rPr>
              <a:t>81.0% 的测试曲与训练集共享艺术家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来源：报告 §3.4 表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142971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三条比赛规则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2042108"/>
            <a:ext cx="609584" cy="249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565" y="2011629"/>
            <a:ext cx="9143771" cy="3872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三个种子，报均值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565" y="2429367"/>
            <a:ext cx="9143771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42 / 123 / 2024，不挑最好的那一次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70543" y="2758157"/>
            <a:ext cx="9143771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0543" y="2895314"/>
            <a:ext cx="609584" cy="249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565" y="2864835"/>
            <a:ext cx="9143771" cy="3872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验证集选型，测试集只评一次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565" y="3282573"/>
            <a:ext cx="9143771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评完不许回头改参数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0543" y="3611362"/>
            <a:ext cx="9143771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0543" y="3748519"/>
            <a:ext cx="609584" cy="249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565" y="3718040"/>
            <a:ext cx="9143771" cy="3872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按艺术家划分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565" y="4135778"/>
            <a:ext cx="9143771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同一个人只出现在训练或测试一边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来源：data/splits/*/splits.csv（全模型共用）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142971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六位选手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1935431"/>
            <a:ext cx="2285942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选手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78403" y="1935431"/>
            <a:ext cx="2743131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1534" y="1935431"/>
            <a:ext cx="2285942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参数量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7477" y="1935431"/>
            <a:ext cx="1676358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体积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3835" y="1935431"/>
            <a:ext cx="1859233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定位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0543" y="2200674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0543" y="2330448"/>
            <a:ext cx="2285942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SVM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8403" y="2330448"/>
            <a:ext cx="2743131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209 维人工特征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1534" y="2330448"/>
            <a:ext cx="2285942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7477" y="2330448"/>
            <a:ext cx="1676358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1.2 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3835" y="2330448"/>
            <a:ext cx="1859233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老派，抗造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0543" y="2688341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0543" y="2818116"/>
            <a:ext cx="2285942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MLP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8403" y="2818116"/>
            <a:ext cx="2743131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209 维人工特征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1534" y="2818116"/>
            <a:ext cx="2285942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8.8 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7477" y="2818116"/>
            <a:ext cx="1676358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1.1 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3835" y="2818116"/>
            <a:ext cx="1859233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略弱于 SVM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0543" y="3176009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0543" y="3305784"/>
            <a:ext cx="2285942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CNN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78403" y="3305784"/>
            <a:ext cx="2743131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64×216 log-Mel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21534" y="3305784"/>
            <a:ext cx="2285942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59 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7477" y="3305784"/>
            <a:ext cx="1676358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2.4 MB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3835" y="3305784"/>
            <a:ext cx="1859233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自建冠军（GTZAN）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0543" y="3663677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70543" y="3793452"/>
            <a:ext cx="2285942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CRNN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78403" y="3793452"/>
            <a:ext cx="2743131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同上 + BiGRU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21534" y="3793452"/>
            <a:ext cx="2285942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42 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7477" y="3793452"/>
            <a:ext cx="1676358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1.7 MB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3835" y="3793452"/>
            <a:ext cx="1859233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数据够了才反超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0543" y="4151345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70543" y="4281119"/>
            <a:ext cx="2285942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轻量 Transformer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78403" y="4281119"/>
            <a:ext cx="2743131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同上 + 位置编码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21534" y="4281119"/>
            <a:ext cx="2285942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65 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07477" y="4281119"/>
            <a:ext cx="1676358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1.2 MB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3835" y="4281119"/>
            <a:ext cx="1859233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千首级过拟合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70543" y="4639013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70543" y="4768787"/>
            <a:ext cx="2285942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AST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78403" y="4768787"/>
            <a:ext cx="2743131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128×1024 log-Mel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21534" y="4768787"/>
            <a:ext cx="2285942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8,600 万（冻结）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7477" y="4768787"/>
            <a:ext cx="1676358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346 MB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3835" y="4768787"/>
            <a:ext cx="1859233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预训练，两榜第一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0543" y="5126680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70543" y="5166230"/>
            <a:ext cx="9905752" cy="2248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8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AST 为冻结主干 + 线性头（7,690 参数），不是微调。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来源：results/gtzan/metrics.csv · 报告 §5.1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142971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六位选手的成绩单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670543" y="1935431"/>
            <a:ext cx="5257668" cy="2980741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fig_gtzan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99" y="2072588"/>
            <a:ext cx="4983355" cy="2462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7699" y="4626937"/>
            <a:ext cx="4983355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GTZAN · 985 首 · 10 类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483" y="1935431"/>
            <a:ext cx="5257668" cy="2980741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fig_fma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639" y="2072588"/>
            <a:ext cx="4983355" cy="2462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639" y="4626937"/>
            <a:ext cx="4983355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FMA-small · 7,994 首 · 8 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43" y="5114288"/>
            <a:ext cx="2285942" cy="64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3120" b="0">
                <a:solidFill>
                  <a:srgbClr val="2F5B4F"/>
                </a:solidFill>
                <a:latin typeface="Consolas"/>
                <a:ea typeface="SimHei"/>
                <a:cs typeface="SimHei"/>
              </a:rPr>
              <a:t>.814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43" y="5779123"/>
            <a:ext cx="2285942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AST · GTZAN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5112" y="5114288"/>
            <a:ext cx="2285942" cy="64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3120" b="0">
                <a:solidFill>
                  <a:srgbClr val="2F5B4F"/>
                </a:solidFill>
                <a:latin typeface="Consolas"/>
                <a:ea typeface="SimHei"/>
                <a:cs typeface="SimHei"/>
              </a:rPr>
              <a:t>.590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5112" y="5779123"/>
            <a:ext cx="2285942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AST · FMA-small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681" y="5114288"/>
            <a:ext cx="2590735" cy="64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3120" b="0">
                <a:solidFill>
                  <a:srgbClr val="C0512F"/>
                </a:solidFill>
                <a:latin typeface="Consolas"/>
                <a:ea typeface="SimHei"/>
                <a:cs typeface="SimHei"/>
              </a:rPr>
              <a:t>.542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9681" y="5779123"/>
            <a:ext cx="3047923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轻量 Transformer · 两榜垫底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来源：results/gtzan/metrics.csv · results/fma/metrics.csv（3 种子均值）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142971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冠军的代价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670543" y="1904952"/>
            <a:ext cx="6095847" cy="351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fig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99" y="2042108"/>
            <a:ext cx="5821534" cy="30019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7699" y="5135525"/>
            <a:ext cx="5821534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延迟与体积，双对数坐标（GTZAN 测试集实测）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8819" y="2285942"/>
            <a:ext cx="3200319" cy="6745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3240" b="1">
                <a:solidFill>
                  <a:srgbClr val="C0512F"/>
                </a:solidFill>
                <a:latin typeface="Consolas"/>
                <a:ea typeface="SimHei"/>
                <a:cs typeface="SimHei"/>
              </a:rPr>
              <a:t>270×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8819" y="2960522"/>
            <a:ext cx="3200319" cy="212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19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延迟：0.76 → 204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8819" y="3581310"/>
            <a:ext cx="3200319" cy="6745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3240" b="1">
                <a:solidFill>
                  <a:srgbClr val="C0512F"/>
                </a:solidFill>
                <a:latin typeface="Consolas"/>
                <a:ea typeface="SimHei"/>
                <a:cs typeface="SimHei"/>
              </a:rPr>
              <a:t>145×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8819" y="4255890"/>
            <a:ext cx="3200319" cy="212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19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体积：2.4 → 346 MB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8819" y="4876678"/>
            <a:ext cx="3200319" cy="474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离线批处理可接受，</a:t>
            </a:r>
          </a:p>
          <a:p>
            <a:pPr algn="l">
              <a:lnSpc>
                <a:spcPct val="132000"/>
              </a:lnSpc>
            </a:pPr>
            <a:r>
              <a:rPr sz="114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实时交互不可用。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来源：报告 §5.4 · results/gtzan/metrics.csv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005814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同一首歌，六种判断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1493482"/>
            <a:ext cx="10667733" cy="2248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8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六个模型、同一批曲目、各自投票——内部管这个设定叫「PVP 擂台」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43" y="1904952"/>
            <a:ext cx="1493482" cy="18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曲目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5942" y="1904952"/>
            <a:ext cx="1341086" cy="18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真值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27029" y="1904952"/>
            <a:ext cx="1630639" cy="18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SVM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668" y="1904952"/>
            <a:ext cx="1447763" cy="18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MLP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432" y="1904952"/>
            <a:ext cx="1859233" cy="18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CNN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4665" y="1904952"/>
            <a:ext cx="1630639" cy="18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CRNN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5305" y="1904952"/>
            <a:ext cx="1447763" cy="18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TF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0543" y="2159332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0543" y="2322828"/>
            <a:ext cx="1493482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073776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5942" y="2322828"/>
            <a:ext cx="1341086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International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7029" y="2322828"/>
            <a:ext cx="1630639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C0512F"/>
                </a:solidFill>
                <a:latin typeface="Arial"/>
                <a:ea typeface="SimHei"/>
                <a:cs typeface="SimHei"/>
              </a:rPr>
              <a:t>Instrumental ✗ 23%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668" y="2322828"/>
            <a:ext cx="1447763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C0512F"/>
                </a:solidFill>
                <a:latin typeface="Arial"/>
                <a:ea typeface="SimHei"/>
                <a:cs typeface="SimHei"/>
              </a:rPr>
              <a:t>Folk ✗ 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432" y="2322828"/>
            <a:ext cx="1859233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C0512F"/>
                </a:solidFill>
                <a:latin typeface="Arial"/>
                <a:ea typeface="SimHei"/>
                <a:cs typeface="SimHei"/>
              </a:rPr>
              <a:t>Experimental ✗ 43%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4665" y="2322828"/>
            <a:ext cx="1630639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C0512F"/>
                </a:solidFill>
                <a:latin typeface="Arial"/>
                <a:ea typeface="SimHei"/>
                <a:cs typeface="SimHei"/>
              </a:rPr>
              <a:t>Electronic ✗ 91%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305" y="2322828"/>
            <a:ext cx="1447763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C0512F"/>
                </a:solidFill>
                <a:latin typeface="Arial"/>
                <a:ea typeface="SimHei"/>
                <a:cs typeface="SimHei"/>
              </a:rPr>
              <a:t>Pop ✗ 29%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0543" y="2692718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0543" y="2856215"/>
            <a:ext cx="1493482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classical.00099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5942" y="2856215"/>
            <a:ext cx="1341086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classical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7029" y="2856215"/>
            <a:ext cx="1630639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2F5B4F"/>
                </a:solidFill>
                <a:latin typeface="Arial"/>
                <a:ea typeface="SimHei"/>
                <a:cs typeface="SimHei"/>
              </a:rPr>
              <a:t>classical ✓ 82%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668" y="2856215"/>
            <a:ext cx="1447763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2F5B4F"/>
                </a:solidFill>
                <a:latin typeface="Arial"/>
                <a:ea typeface="SimHei"/>
                <a:cs typeface="SimHei"/>
              </a:rPr>
              <a:t>classical ✓ 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5432" y="2856215"/>
            <a:ext cx="1859233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C0512F"/>
                </a:solidFill>
                <a:latin typeface="Arial"/>
                <a:ea typeface="SimHei"/>
                <a:cs typeface="SimHei"/>
              </a:rPr>
              <a:t>rock ✗ 77%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4665" y="2856215"/>
            <a:ext cx="1630639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C0512F"/>
                </a:solidFill>
                <a:latin typeface="Arial"/>
                <a:ea typeface="SimHei"/>
                <a:cs typeface="SimHei"/>
              </a:rPr>
              <a:t>country ✗ 70%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305" y="2856215"/>
            <a:ext cx="1447763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C0512F"/>
                </a:solidFill>
                <a:latin typeface="Arial"/>
                <a:ea typeface="SimHei"/>
                <a:cs typeface="SimHei"/>
              </a:rPr>
              <a:t>jazz ✗ 46%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0543" y="3226105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70543" y="3389602"/>
            <a:ext cx="1493482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blues.00012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5942" y="3389602"/>
            <a:ext cx="1341086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blues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27029" y="3389602"/>
            <a:ext cx="1630639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2F5B4F"/>
                </a:solidFill>
                <a:latin typeface="Arial"/>
                <a:ea typeface="SimHei"/>
                <a:cs typeface="SimHei"/>
              </a:rPr>
              <a:t>blues ✓ 65%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668" y="3389602"/>
            <a:ext cx="1447763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2F5B4F"/>
                </a:solidFill>
                <a:latin typeface="Arial"/>
                <a:ea typeface="SimHei"/>
                <a:cs typeface="SimHei"/>
              </a:rPr>
              <a:t>blues ✓ 98%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05432" y="3389602"/>
            <a:ext cx="1859233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2F5B4F"/>
                </a:solidFill>
                <a:latin typeface="Arial"/>
                <a:ea typeface="SimHei"/>
                <a:cs typeface="SimHei"/>
              </a:rPr>
              <a:t>blues ✓ 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64665" y="3389602"/>
            <a:ext cx="1630639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2F5B4F"/>
                </a:solidFill>
                <a:latin typeface="Arial"/>
                <a:ea typeface="SimHei"/>
                <a:cs typeface="SimHei"/>
              </a:rPr>
              <a:t>blues ✓ 97%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5305" y="3389602"/>
            <a:ext cx="1447763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2F5B4F"/>
                </a:solidFill>
                <a:latin typeface="Arial"/>
                <a:ea typeface="SimHei"/>
                <a:cs typeface="SimHei"/>
              </a:rPr>
              <a:t>blues ✓ 97%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70543" y="3759492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073776_International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0543" y="4267093"/>
            <a:ext cx="579105" cy="57910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447763" y="4328051"/>
            <a:ext cx="5333866" cy="212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19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5 秒 · FMA 测试集 · 模型没见过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来源：results/fma/predictions/*_seed42_test.csv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09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8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142971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模型不是白纸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1935431"/>
            <a:ext cx="2438339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0799" y="1935431"/>
            <a:ext cx="4907157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生来就信的假设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7956" y="1935431"/>
            <a:ext cx="1828754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数据少时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710" y="1935431"/>
            <a:ext cx="1676358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数据多时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70543" y="2200674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0543" y="2376167"/>
            <a:ext cx="2438339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SVM / MLP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0799" y="2376167"/>
            <a:ext cx="4907157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Arial"/>
                <a:ea typeface="SimHei"/>
                <a:cs typeface="SimHei"/>
              </a:rPr>
              <a:t>自己没有先验，但输入的人工特征里全是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7956" y="2376167"/>
            <a:ext cx="1828754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稳，天花板低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710" y="2376167"/>
            <a:ext cx="1676358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天花板低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0543" y="2779779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09584" y="2779779"/>
            <a:ext cx="10972525" cy="579105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543" y="2955273"/>
            <a:ext cx="2438339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CNN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0799" y="2955273"/>
            <a:ext cx="4907157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局部性 + 平移等变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7956" y="2955273"/>
            <a:ext cx="1828754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Arial"/>
                <a:ea typeface="SimHei"/>
                <a:cs typeface="SimHei"/>
              </a:rPr>
              <a:t>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710" y="2955273"/>
            <a:ext cx="1676358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Arial"/>
                <a:ea typeface="SimHei"/>
                <a:cs typeface="SimHei"/>
              </a:rPr>
              <a:t>强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0543" y="3358885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09584" y="3358885"/>
            <a:ext cx="10972525" cy="579105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543" y="3534378"/>
            <a:ext cx="2438339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CRNN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0799" y="3534378"/>
            <a:ext cx="4907157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局部性 + 循环层的记忆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7956" y="3534378"/>
            <a:ext cx="1828754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Arial"/>
                <a:ea typeface="SimHei"/>
                <a:cs typeface="SimHei"/>
              </a:rPr>
              <a:t>稍弱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710" y="3534378"/>
            <a:ext cx="1676358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Arial"/>
                <a:ea typeface="SimHei"/>
                <a:cs typeface="SimHei"/>
              </a:rPr>
              <a:t>更强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0543" y="3937990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0543" y="4113484"/>
            <a:ext cx="2438339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轻量 Transformer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0799" y="4113484"/>
            <a:ext cx="4907157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只有位置编码，几乎没有结构先验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7956" y="4113484"/>
            <a:ext cx="1828754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C0512F"/>
                </a:solidFill>
                <a:latin typeface="Arial"/>
                <a:ea typeface="SimHei"/>
                <a:cs typeface="SimHei"/>
              </a:rPr>
              <a:t>严重过拟合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710" y="4113484"/>
            <a:ext cx="1676358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待观察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70543" y="4517096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70543" y="4692589"/>
            <a:ext cx="2438339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30799" y="4692589"/>
            <a:ext cx="4907157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架构同上，预训练把先验灌进权重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7956" y="4692589"/>
            <a:ext cx="1828754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2F5B4F"/>
                </a:solidFill>
                <a:latin typeface="Arial"/>
                <a:ea typeface="SimHei"/>
                <a:cs typeface="SimHei"/>
              </a:rPr>
              <a:t>最强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710" y="4692589"/>
            <a:ext cx="1676358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2F5B4F"/>
                </a:solidFill>
                <a:latin typeface="Arial"/>
                <a:ea typeface="SimHei"/>
                <a:cs typeface="SimHei"/>
              </a:rPr>
              <a:t>最强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0543" y="5096201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70543" y="5166230"/>
            <a:ext cx="10667733" cy="2248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8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先验越少，样本效率越低；先验越少，天花板越高。这是一枚硬币的两面。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来源：报告 §7.6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142971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先验越少，越吃数据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2247026"/>
            <a:ext cx="3581310" cy="2998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40" b="1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0.753 &gt; 0.723 ≫ 0.542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73770" y="2247026"/>
            <a:ext cx="7269298" cy="2998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4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GTZAN 985 首：CNN 赢，轻量 TF 差 21 个点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70543" y="2743131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70543" y="2978528"/>
            <a:ext cx="3581310" cy="2998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40" b="1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0.492 &gt; 0.470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3770" y="2978528"/>
            <a:ext cx="7269298" cy="2998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4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FMA 8 倍数据：CRNN 反超 CNN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0543" y="3474633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0543" y="3710030"/>
            <a:ext cx="3581310" cy="2998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40" b="1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0.814 / 0.590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770" y="3710030"/>
            <a:ext cx="7269298" cy="2998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4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同一个 Transformer 架构，预训练后两榜第一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0543" y="4206134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0543" y="4709042"/>
            <a:ext cx="10667733" cy="374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>
                <a:solidFill>
                  <a:srgbClr val="B08442"/>
                </a:solidFill>
                <a:latin typeface="Times New Roman"/>
                <a:ea typeface="SimSun"/>
                <a:cs typeface="SimSun"/>
              </a:rPr>
              <a:t>问题不在架构，在数据与先验。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来源：results/gtzan/metrics.csv · results/fma/metrics.csv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142971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那条过分自信的曲线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670543" y="1798275"/>
            <a:ext cx="8305592" cy="3710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fi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99" y="1935431"/>
            <a:ext cx="8031279" cy="31930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7699" y="5219887"/>
            <a:ext cx="803127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GTZAN 训练 / 验证损失（细线为三个种子，粗线为均值）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43" y="5707238"/>
            <a:ext cx="10667733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30 轮加到 60 轮：GTZAN +0.75 / +1.36，FMA −0.5 左右 —— 再训也这样。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来源：results/logs/overnight/*.log · 报告 §5.3 表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142971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换个听法就翻车</a:t>
            </a:r>
          </a:p>
        </p:txBody>
      </p:sp>
      <p:sp>
        <p:nvSpPr>
          <p:cNvPr id="5" name="Rectangle 4"/>
          <p:cNvSpPr/>
          <p:nvPr/>
        </p:nvSpPr>
        <p:spPr>
          <a:xfrm>
            <a:off x="670543" y="1767795"/>
            <a:ext cx="8305592" cy="38068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fig_rob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99" y="1904952"/>
            <a:ext cx="8031279" cy="328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7699" y="5285390"/>
            <a:ext cx="803127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七种扰动下的准确率（n=147，不重新训练；seed 42 权重）；剪成 3 秒时 CRNN 掉 53.1 点、SVM 只掉 12.9 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43" y="5772740"/>
            <a:ext cx="10667733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Arial"/>
                <a:ea typeface="SimHei"/>
                <a:cs typeface="SimHei"/>
              </a:rPr>
              <a:t>0 dB 噪声下 CNN 从第一名掉到倒数第一：0.748 → 0.122，掉 62.6 个点；同一条件下 SVM 只掉 40.8 个点。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来源：results/gtzan/robustness.csv（35 行）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142971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能拧的旋钮，都拧过了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2042108"/>
            <a:ext cx="4267093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试过什么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59553" y="2042108"/>
            <a:ext cx="6583515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结果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70543" y="2307351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70543" y="2492653"/>
            <a:ext cx="4267093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2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SpecAugment + 标签平滑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9553" y="2492653"/>
            <a:ext cx="6583515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2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FMA 上最大 +0.7 个点，落在种子波动内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0543" y="2916936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0543" y="3102237"/>
            <a:ext cx="4267093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2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30 轮 → 60 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9553" y="3102237"/>
            <a:ext cx="6583515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2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两个数据集互有胜负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0543" y="3526520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0543" y="3711822"/>
            <a:ext cx="4267093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2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学习率 / 批大小扫描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9553" y="3711822"/>
            <a:ext cx="6583515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2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无稳定收益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0543" y="4136105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0543" y="4328051"/>
            <a:ext cx="10667733" cy="3247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60" b="0">
                <a:solidFill>
                  <a:srgbClr val="C0512F"/>
                </a:solidFill>
                <a:latin typeface="Arial"/>
                <a:ea typeface="SimHei"/>
                <a:cs typeface="SimHei"/>
              </a:rPr>
              <a:t>剩下的差距，不是调参能补的。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来源：报告 §5.3 表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874473"/>
            <a:ext cx="10820129" cy="8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56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它知道这是什么。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2793422"/>
            <a:ext cx="10820129" cy="8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560" b="0">
                <a:solidFill>
                  <a:srgbClr val="8A817A"/>
                </a:solidFill>
                <a:latin typeface="Times New Roman"/>
                <a:ea typeface="SimSun"/>
                <a:cs typeface="SimSun"/>
              </a:rPr>
              <a:t>它不知道接下来会响什么。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43" y="3223408"/>
            <a:ext cx="5791055" cy="15239"/>
          </a:xfrm>
          <a:prstGeom prst="rect">
            <a:avLst/>
          </a:prstGeom>
          <a:solidFill>
            <a:srgbClr val="D8D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670543" y="3925725"/>
            <a:ext cx="6248244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70543" y="4123840"/>
            <a:ext cx="9143771" cy="249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p(流派 | 音频)　　→　　p(下一个 Token | 前 5 秒)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142971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把声音拆成符号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2042108"/>
            <a:ext cx="2285942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7923" y="2042108"/>
            <a:ext cx="3047923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32 kHz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70543" y="2361665"/>
            <a:ext cx="5425304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70543" y="2407384"/>
            <a:ext cx="2285942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帧率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7923" y="2407384"/>
            <a:ext cx="3047923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50 Hz（每帧 20 ms）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0543" y="2726940"/>
            <a:ext cx="5425304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0543" y="2772659"/>
            <a:ext cx="2285942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码本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7923" y="2772659"/>
            <a:ext cx="3047923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4 个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0543" y="3092216"/>
            <a:ext cx="5425304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0543" y="3137935"/>
            <a:ext cx="2285942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每帧符号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7923" y="3137935"/>
            <a:ext cx="3047923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4 个 Token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0543" y="3457491"/>
            <a:ext cx="5425304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0543" y="3686085"/>
            <a:ext cx="5425304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「预测音频」变成「预测下一个符号」——交叉熵直接能用。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432" y="2072588"/>
            <a:ext cx="838179" cy="18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码本 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19809" y="2042108"/>
            <a:ext cx="3901342" cy="213354"/>
          </a:xfrm>
          <a:prstGeom prst="rect">
            <a:avLst/>
          </a:prstGeom>
          <a:solidFill>
            <a:srgbClr val="403D3A"/>
          </a:solidFill>
          <a:ln w="9525">
            <a:solidFill>
              <a:srgbClr val="D8D0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5432" y="2423099"/>
            <a:ext cx="838179" cy="18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码本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19809" y="2392620"/>
            <a:ext cx="2808966" cy="213354"/>
          </a:xfrm>
          <a:prstGeom prst="rect">
            <a:avLst/>
          </a:prstGeom>
          <a:solidFill>
            <a:srgbClr val="827F7C"/>
          </a:solidFill>
          <a:ln w="9525">
            <a:solidFill>
              <a:srgbClr val="D8D0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5432" y="2773610"/>
            <a:ext cx="838179" cy="18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码本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19809" y="2743131"/>
            <a:ext cx="1794617" cy="213354"/>
          </a:xfrm>
          <a:prstGeom prst="rect">
            <a:avLst/>
          </a:prstGeom>
          <a:solidFill>
            <a:srgbClr val="BCB9B4"/>
          </a:solidFill>
          <a:ln w="9525">
            <a:solidFill>
              <a:srgbClr val="D8D0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5432" y="3124121"/>
            <a:ext cx="838179" cy="18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码本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19809" y="3093642"/>
            <a:ext cx="936322" cy="213354"/>
          </a:xfrm>
          <a:prstGeom prst="rect">
            <a:avLst/>
          </a:prstGeom>
          <a:solidFill>
            <a:srgbClr val="E4E1DC"/>
          </a:solidFill>
          <a:ln w="9525">
            <a:solidFill>
              <a:srgbClr val="D8D0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5432" y="3535591"/>
            <a:ext cx="4724281" cy="18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残差矢量量化：第 1 个码本画轮廓，后 3 个逐级补细节 → 串成整数序列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来源：报告 §6.2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142971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两条流水线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670543" y="1965910"/>
            <a:ext cx="1028674" cy="4724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7699" y="2103067"/>
            <a:ext cx="845798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5 秒前缀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0175" y="2087827"/>
            <a:ext cx="304792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2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034489" y="1965910"/>
            <a:ext cx="1714457" cy="4724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71645" y="2103067"/>
            <a:ext cx="1531581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4×250 Token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9904" y="2087827"/>
            <a:ext cx="304792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2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84217" y="1965910"/>
            <a:ext cx="2285942" cy="4724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1374" y="2103067"/>
            <a:ext cx="2103067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1 秒 · 4×50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077" y="2118307"/>
            <a:ext cx="3200319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① 自己训的小模型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0543" y="2743131"/>
            <a:ext cx="1485862" cy="4724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699" y="2880287"/>
            <a:ext cx="1302987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5 秒前缀（波形）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7364" y="2865048"/>
            <a:ext cx="304792" cy="274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2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91677" y="2743131"/>
            <a:ext cx="1028674" cy="4724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28834" y="2880287"/>
            <a:ext cx="845798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3 秒波形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2268" y="2895527"/>
            <a:ext cx="3200319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② MusicGen-small + 我们的 LoRA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0543" y="3581310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0543" y="3939679"/>
            <a:ext cx="2895527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① 指标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7987" y="3939679"/>
            <a:ext cx="7955081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下一个符号猜对没有（Top-1）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70543" y="4297572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0543" y="4427347"/>
            <a:ext cx="2895527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② 指标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7987" y="4427347"/>
            <a:ext cx="7955081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频谱离真实多远（Log-Mel RMSE）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0543" y="4785240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0543" y="5090032"/>
            <a:ext cx="10667733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C0512F"/>
                </a:solidFill>
                <a:latin typeface="Arial"/>
                <a:ea typeface="SimHei"/>
                <a:cs typeface="SimHei"/>
              </a:rPr>
              <a:t>这两个数不能互相比，也不能跟分类的 0.814 比。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来源：报告 §3.6 · §6.2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142971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先立四个「笨」基线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1935431"/>
            <a:ext cx="2590735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195" y="1935431"/>
            <a:ext cx="5821534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做法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04729" y="1935431"/>
            <a:ext cx="2438339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Top-1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70543" y="2200674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0543" y="2368547"/>
            <a:ext cx="2590735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均匀分布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195" y="2368547"/>
            <a:ext cx="5821534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词表内等概率瞎猜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4729" y="2368547"/>
            <a:ext cx="2438339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0.049%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0543" y="2764540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0543" y="2932413"/>
            <a:ext cx="2590735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频率先验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195" y="2932413"/>
            <a:ext cx="5821534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永远猜训练集最高频符号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4729" y="2932413"/>
            <a:ext cx="2438339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1.16%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0543" y="3328405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0543" y="3496279"/>
            <a:ext cx="2590735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195" y="3496279"/>
            <a:ext cx="5821534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把上一帧原封不动重复一遍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4729" y="3496279"/>
            <a:ext cx="2438339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1.62%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0543" y="3892271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0543" y="4060145"/>
            <a:ext cx="2590735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Bigram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195" y="4060145"/>
            <a:ext cx="5821534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数相邻符号谁跟着谁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4729" y="4060145"/>
            <a:ext cx="2438339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1.71%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0543" y="4456137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09584" y="4456137"/>
            <a:ext cx="10972525" cy="563865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543" y="4624011"/>
            <a:ext cx="2590735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我们的模型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195" y="4624011"/>
            <a:ext cx="5821534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Arial"/>
                <a:ea typeface="SimHei"/>
                <a:cs typeface="SimHei"/>
              </a:rPr>
              <a:t>Transformer / LSTM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4729" y="4624011"/>
            <a:ext cx="2438339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2.19% / 2.08%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0543" y="5020003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70543" y="5105272"/>
            <a:ext cx="10667733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C0512F"/>
                </a:solidFill>
                <a:latin typeface="Arial"/>
                <a:ea typeface="SimHei"/>
                <a:cs typeface="SimHei"/>
              </a:rPr>
              <a:t>打不过 Persistence，就说明它在假装学习。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来源：results/token_prediction_long/metrics.csv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142971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学会了，但只学会一点点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670543" y="1904952"/>
            <a:ext cx="5791055" cy="3065418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fig_token_t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99" y="2042108"/>
            <a:ext cx="5516742" cy="25475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7699" y="4681135"/>
            <a:ext cx="5516742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free-running Top-1（3 种子均值）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7828" y="1904952"/>
            <a:ext cx="4571885" cy="5496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64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3.36%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7828" y="2454610"/>
            <a:ext cx="4571885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看着答案考试（teacher-forced）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7828" y="3047923"/>
            <a:ext cx="4724281" cy="799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3840" b="0">
                <a:solidFill>
                  <a:srgbClr val="B08442"/>
                </a:solidFill>
                <a:latin typeface="Consolas"/>
                <a:ea typeface="SimHei"/>
                <a:cs typeface="SimHei"/>
              </a:rPr>
              <a:t>2.19%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7828" y="3847425"/>
            <a:ext cx="4724281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自己往下接（free-running）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828" y="4389010"/>
            <a:ext cx="4571885" cy="5496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640" b="0">
                <a:solidFill>
                  <a:srgbClr val="C0512F"/>
                </a:solidFill>
                <a:latin typeface="Consolas"/>
                <a:ea typeface="SimHei"/>
                <a:cs typeface="SimHei"/>
              </a:rPr>
              <a:t>−35%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7828" y="4938667"/>
            <a:ext cx="4724281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一步之差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43" y="5168485"/>
            <a:ext cx="10667733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2.19% 是瞎猜的 45 倍，也是一百个符号里猜对两个。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来源：results/token_prediction_long/metrics.csv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142971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码本也有难易之分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670543" y="1767795"/>
            <a:ext cx="6248243" cy="31353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fig_code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99" y="1904952"/>
            <a:ext cx="5973930" cy="26174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7699" y="4613884"/>
            <a:ext cx="597393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四个码本各自的 free-running Top-1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43" y="5129764"/>
            <a:ext cx="2895527" cy="249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码本 0 → 码本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7987" y="5129764"/>
            <a:ext cx="7955081" cy="249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2.8% → 1.5%，由粗到细逐级下降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0543" y="5436507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0543" y="5525994"/>
            <a:ext cx="2895527" cy="249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这说明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7987" y="5525994"/>
            <a:ext cx="7955081" cy="249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结构对得上 RVQ；如果是在瞎猜，四个码本应该一样烂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0543" y="5832737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来源：results/token_prediction_long/metrics.csv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066773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请听四段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70543" y="1767795"/>
            <a:ext cx="2423099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0543" y="1874473"/>
            <a:ext cx="2423099" cy="18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43" y="2179265"/>
            <a:ext cx="2423099" cy="312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前缀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43" y="2507679"/>
            <a:ext cx="2423099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模型看到的 5 秒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98435" y="1767795"/>
            <a:ext cx="2423099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98435" y="1874473"/>
            <a:ext cx="2423099" cy="18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8435" y="2179265"/>
            <a:ext cx="2423099" cy="312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真实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8435" y="2507679"/>
            <a:ext cx="2423099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唱片里原本的后 3 秒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326" y="1767795"/>
            <a:ext cx="2423100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26326" y="1874473"/>
            <a:ext cx="2423099" cy="18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326" y="2179265"/>
            <a:ext cx="2423099" cy="312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原始续写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326" y="2507679"/>
            <a:ext cx="2423099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MusicGen-small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54218" y="1767795"/>
            <a:ext cx="2423100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54218" y="1874473"/>
            <a:ext cx="2423099" cy="18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4218" y="2179265"/>
            <a:ext cx="2423099" cy="312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适配后续写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4218" y="2507679"/>
            <a:ext cx="2423099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+ LoRA r=8</a:t>
            </a:r>
          </a:p>
        </p:txBody>
      </p:sp>
      <p:pic>
        <p:nvPicPr>
          <p:cNvPr id="21" name="AB__000995_Experimental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0543" y="3581310"/>
            <a:ext cx="579105" cy="57910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47763" y="3642268"/>
            <a:ext cx="5333866" cy="212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19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段间隔 0.6 秒 · 000995 Experimental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7763" y="3825144"/>
            <a:ext cx="5333866" cy="212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19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0:16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1055" y="3520351"/>
            <a:ext cx="3657508" cy="5496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264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20.85 → 17.19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3866" y="4070009"/>
            <a:ext cx="4114697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Log-Mel RMSE · 八首里改善最大（−3.65）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来源：demo/audio/README.md §4 · 报告 §6.9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21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066773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三条里只有一条是真的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1554441"/>
            <a:ext cx="10667733" cy="249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同一段 5 秒前缀，只有后半段不同</a:t>
            </a:r>
          </a:p>
        </p:txBody>
      </p:sp>
      <p:pic>
        <p:nvPicPr>
          <p:cNvPr id="6" name="REAL__000995_Experimental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01182" y="2285942"/>
            <a:ext cx="579105" cy="5791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78403" y="2529776"/>
            <a:ext cx="5333866" cy="212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19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5942" y="3017444"/>
            <a:ext cx="609584" cy="374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180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348" y="3413674"/>
            <a:ext cx="1066773" cy="18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90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0:08</a:t>
            </a:r>
          </a:p>
        </p:txBody>
      </p:sp>
      <p:pic>
        <p:nvPicPr>
          <p:cNvPr id="10" name="GENbase__000995_Experimental.mp3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44313" y="2285942"/>
            <a:ext cx="579105" cy="57910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21534" y="2529776"/>
            <a:ext cx="5333866" cy="212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19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074" y="3017444"/>
            <a:ext cx="609584" cy="374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180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479" y="3413674"/>
            <a:ext cx="1066773" cy="18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90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0:08</a:t>
            </a:r>
          </a:p>
        </p:txBody>
      </p:sp>
      <p:pic>
        <p:nvPicPr>
          <p:cNvPr id="14" name="GENft__000995_Experimental.mp3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87445" y="2285942"/>
            <a:ext cx="579105" cy="57910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64665" y="2529776"/>
            <a:ext cx="5333866" cy="212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19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205" y="3017444"/>
            <a:ext cx="609584" cy="374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180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611" y="3413674"/>
            <a:ext cx="1066773" cy="18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90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0:08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7093" y="4038499"/>
            <a:ext cx="2438339" cy="4419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67093" y="4175655"/>
            <a:ext cx="2438339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1140" b="0">
                <a:solidFill>
                  <a:srgbClr val="1C1A17"/>
                </a:solidFill>
                <a:latin typeface="Arial"/>
                <a:ea typeface="SimHei"/>
                <a:cs typeface="SimHei"/>
              </a:rPr>
              <a:t>揭晓答案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2620" y="4175655"/>
            <a:ext cx="3962300" cy="18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（点击或按页面说明口头公布）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三个文件已重命名，页面不显示原始文件名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22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142971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这一条，改完反而更差</a:t>
            </a:r>
          </a:p>
        </p:txBody>
      </p:sp>
      <p:pic>
        <p:nvPicPr>
          <p:cNvPr id="5" name="AB__001482_Electronic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0543" y="1981150"/>
            <a:ext cx="579105" cy="5791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7763" y="2042108"/>
            <a:ext cx="5333866" cy="212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19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同样四段：前缀 → 真实 → 原始 → 适配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763" y="2224984"/>
            <a:ext cx="5333866" cy="212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19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0:16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43" y="3047923"/>
            <a:ext cx="9143771" cy="949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4560" b="0">
                <a:solidFill>
                  <a:srgbClr val="C0512F"/>
                </a:solidFill>
                <a:latin typeface="Consolas"/>
                <a:ea typeface="SimHei"/>
                <a:cs typeface="SimHei"/>
              </a:rPr>
              <a:t>27.13 → 27.46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43" y="4043051"/>
            <a:ext cx="9143771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8 首测试曲里唯一退步的一首（+0.33）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来源：demo/audio/README.md §4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23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142971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最贵的一课：标签写错了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60" y="1935431"/>
            <a:ext cx="1981150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73610" y="1935431"/>
            <a:ext cx="8869458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是什么情况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70543" y="2200674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2460" y="2327284"/>
            <a:ext cx="1981150" cy="374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800" b="1">
                <a:solidFill>
                  <a:srgbClr val="C0512F"/>
                </a:solidFill>
                <a:latin typeface="Consolas"/>
                <a:ea typeface="SimHei"/>
                <a:cs typeface="SimHei"/>
              </a:rPr>
              <a:t>11.08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3610" y="2327284"/>
            <a:ext cx="8869458" cy="374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错误布局：比均匀分布还差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0543" y="2779779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92460" y="2906390"/>
            <a:ext cx="1981150" cy="374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800" b="1">
                <a:solidFill>
                  <a:srgbClr val="2F5B4F"/>
                </a:solidFill>
                <a:latin typeface="Consolas"/>
                <a:ea typeface="SimHei"/>
                <a:cs typeface="SimHei"/>
              </a:rPr>
              <a:t>5.46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3610" y="2906390"/>
            <a:ext cx="8869458" cy="374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正确布局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0543" y="3358885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2460" y="3485495"/>
            <a:ext cx="1981150" cy="374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80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7.62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3610" y="3485495"/>
            <a:ext cx="8869458" cy="374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均匀分布（乱猜的上界）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0543" y="3937990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70543" y="3977540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70543" y="4326101"/>
            <a:ext cx="2285942" cy="249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症状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8403" y="4326101"/>
            <a:ext cx="8564665" cy="249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不报错，loss 只停在偏高的值上，看起来像「还没训够」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0543" y="4663323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0543" y="4783289"/>
            <a:ext cx="2285942" cy="249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改对之后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8403" y="4783289"/>
            <a:ext cx="8564665" cy="249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19.23 → 17.91，7/8 首改善，t = −3.36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70543" y="5120511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来源：报告 §6.10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142971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三个旋钮，全都不灵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1935431"/>
            <a:ext cx="3047923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383" y="1935431"/>
            <a:ext cx="1523961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RMSE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64345" y="1935431"/>
            <a:ext cx="1828754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相对原始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93100" y="1935431"/>
            <a:ext cx="4449968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配对检验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70543" y="2200674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0543" y="2360927"/>
            <a:ext cx="3047923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原始模型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383" y="2360927"/>
            <a:ext cx="1523961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19.23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4345" y="2360927"/>
            <a:ext cx="1828754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3100" y="2360927"/>
            <a:ext cx="4449968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—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0543" y="2749300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09584" y="2749300"/>
            <a:ext cx="10972525" cy="548626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543" y="2909554"/>
            <a:ext cx="3047923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LoRA r=8，1200 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383" y="2909554"/>
            <a:ext cx="1523961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17.91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4345" y="2909554"/>
            <a:ext cx="1828754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1">
                <a:solidFill>
                  <a:srgbClr val="2F5B4F"/>
                </a:solidFill>
                <a:latin typeface="Consolas"/>
                <a:ea typeface="SimHei"/>
                <a:cs typeface="SimHei"/>
              </a:rPr>
              <a:t>−1.32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3100" y="2909554"/>
            <a:ext cx="4449968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2F5B4F"/>
                </a:solidFill>
                <a:latin typeface="Arial"/>
                <a:ea typeface="SimHei"/>
                <a:cs typeface="SimHei"/>
              </a:rPr>
              <a:t>t = −3.36，显著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0543" y="3297926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0543" y="3458180"/>
            <a:ext cx="3047923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LoRA 3600 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383" y="3458180"/>
            <a:ext cx="1523961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17.71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4345" y="3458180"/>
            <a:ext cx="1828754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−1.52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3100" y="3458180"/>
            <a:ext cx="4449968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t = −0.47，不显著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70543" y="3846552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70543" y="4006806"/>
            <a:ext cx="3047923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LoRA 全窗口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383" y="4006806"/>
            <a:ext cx="1523961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17.64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4345" y="4006806"/>
            <a:ext cx="1828754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−1.59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3100" y="4006806"/>
            <a:ext cx="4449968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t = −0.33，不显著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0543" y="4395179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70543" y="4555433"/>
            <a:ext cx="3047923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LoRA r=16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383" y="4555433"/>
            <a:ext cx="1523961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18.59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64345" y="4555433"/>
            <a:ext cx="1828754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−0.64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93100" y="4555433"/>
            <a:ext cx="4449968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t = −1.06，不显著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70543" y="4943805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70543" y="5013834"/>
            <a:ext cx="10667733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C0512F"/>
                </a:solidFill>
                <a:latin typeface="Arial"/>
                <a:ea typeface="SimHei"/>
                <a:cs typeface="SimHei"/>
              </a:rPr>
              <a:t>NLL 一直在降，音频距离没跟着降。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来源：报告 §6.9 / §6.11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142971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为什么只有 3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1935431"/>
            <a:ext cx="2438339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续写长度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0799" y="1935431"/>
            <a:ext cx="3047923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耗时（RTX 4060）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3" y="1935431"/>
            <a:ext cx="5364345" cy="19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情况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70543" y="2200674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09584" y="2200674"/>
            <a:ext cx="10972525" cy="533386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543" y="2353308"/>
            <a:ext cx="2438339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3 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0799" y="2353308"/>
            <a:ext cx="3047923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5.6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3" y="2353308"/>
            <a:ext cx="5364345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Arial"/>
                <a:ea typeface="SimHei"/>
                <a:cs typeface="SimHei"/>
              </a:rPr>
              <a:t>8/8 曲目稳定，主结果口径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0543" y="2734060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0543" y="2886694"/>
            <a:ext cx="2438339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6 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0799" y="2886694"/>
            <a:ext cx="3047923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16.3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3" y="2886694"/>
            <a:ext cx="5364345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可生成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0543" y="3267447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70543" y="3420081"/>
            <a:ext cx="2438339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8 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0799" y="3420081"/>
            <a:ext cx="3047923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18.3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3" y="3420081"/>
            <a:ext cx="5364345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可生成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0543" y="3800834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0543" y="3953468"/>
            <a:ext cx="2438339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12 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0799" y="3953468"/>
            <a:ext cx="3047923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35.4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3" y="3953468"/>
            <a:ext cx="5364345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可生成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70543" y="4334220"/>
            <a:ext cx="10850608" cy="0"/>
          </a:xfrm>
          <a:prstGeom prst="line">
            <a:avLst/>
          </a:prstGeom>
          <a:ln w="9525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70543" y="4486854"/>
            <a:ext cx="2438339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1">
                <a:solidFill>
                  <a:srgbClr val="C0512F"/>
                </a:solidFill>
                <a:latin typeface="Arial"/>
                <a:ea typeface="SimHei"/>
                <a:cs typeface="SimHei"/>
              </a:rPr>
              <a:t>16 / 20 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30799" y="4486854"/>
            <a:ext cx="3047923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1260" b="0">
                <a:solidFill>
                  <a:srgbClr val="1C1A17"/>
                </a:solidFill>
                <a:latin typeface="Consolas"/>
                <a:ea typeface="SimHei"/>
                <a:cs typeface="SimHe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8723" y="4486854"/>
            <a:ext cx="5364345" cy="26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60" b="0">
                <a:solidFill>
                  <a:srgbClr val="C0512F"/>
                </a:solidFill>
                <a:latin typeface="Arial"/>
                <a:ea typeface="SimHei"/>
                <a:cs typeface="SimHei"/>
              </a:rPr>
              <a:t>崩：位置索引越界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0543" y="4867607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70543" y="4907157"/>
            <a:ext cx="10667733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崩的原因不在长度：pad/bos 的 id 是 2048，而词表只到 2047。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0543" y="5174988"/>
            <a:ext cx="10667733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3 秒是「八首都能稳定跑完」的口径，不是能力上限。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来源：demo/README.md §3.5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142971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指标不等于好听</a:t>
            </a:r>
          </a:p>
        </p:txBody>
      </p:sp>
      <p:sp>
        <p:nvSpPr>
          <p:cNvPr id="5" name="Rectangle 4"/>
          <p:cNvSpPr/>
          <p:nvPr/>
        </p:nvSpPr>
        <p:spPr>
          <a:xfrm>
            <a:off x="670543" y="1767795"/>
            <a:ext cx="5943451" cy="362017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generation_sp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99" y="1904952"/>
            <a:ext cx="5669138" cy="31023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7699" y="5098730"/>
            <a:ext cx="566913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前缀 | 真实 | 原始续写 | 适配后续写（Log-Mel）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422" y="2285942"/>
            <a:ext cx="3505112" cy="212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19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422" y="2499297"/>
            <a:ext cx="3505112" cy="249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1C1A17"/>
                </a:solidFill>
                <a:latin typeface="Arial"/>
                <a:ea typeface="SimHei"/>
                <a:cs typeface="SimHei"/>
              </a:rPr>
              <a:t>Log-Mel RMSE——离原曲多近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422" y="3047923"/>
            <a:ext cx="3505112" cy="212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19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没做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422" y="3261278"/>
            <a:ext cx="3505112" cy="249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1C1A17"/>
                </a:solidFill>
                <a:latin typeface="Arial"/>
                <a:ea typeface="SimHei"/>
                <a:cs typeface="SimHei"/>
              </a:rPr>
              <a:t>规模化主观听感评分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422" y="3962300"/>
            <a:ext cx="3505112" cy="23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40" b="0">
                <a:solidFill>
                  <a:srgbClr val="C0512F"/>
                </a:solidFill>
                <a:latin typeface="Arial"/>
                <a:ea typeface="SimHei"/>
                <a:cs typeface="SimHei"/>
              </a:rPr>
              <a:t>所以我们只说「客观距离变近了」，不说「变好听了」。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来源：报告 §6.7 / §7.9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59073"/>
            <a:ext cx="6857828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MUSIC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005814"/>
            <a:ext cx="10820129" cy="557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4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结案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782" y="1837288"/>
            <a:ext cx="83817" cy="83817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75" y="1722076"/>
            <a:ext cx="10362940" cy="449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1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判别式：最大的单点收益是预训练，不是架构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782" y="2378446"/>
            <a:ext cx="83817" cy="83817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575" y="2263234"/>
            <a:ext cx="10362940" cy="449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1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模型排序会随数据规模翻转：985 首 CNN 赢，7,994 首 CRNN 反超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782" y="2919603"/>
            <a:ext cx="83817" cy="83817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575" y="2804392"/>
            <a:ext cx="10362940" cy="449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160" b="1">
                <a:solidFill>
                  <a:srgbClr val="1C1A17"/>
                </a:solidFill>
                <a:latin typeface="Arial"/>
                <a:ea typeface="SimHei"/>
                <a:cs typeface="SimHei"/>
              </a:rPr>
              <a:t>泄漏能让结论虚高十个点：0.470 → 0.568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782" y="3428758"/>
            <a:ext cx="83817" cy="83817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575" y="3345549"/>
            <a:ext cx="10362940" cy="3247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6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生成式：能预测，学得很少，修好对齐后有可测改善，三个旋钮无效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0543" y="3837983"/>
            <a:ext cx="10850608" cy="0"/>
          </a:xfrm>
          <a:prstGeom prst="line">
            <a:avLst/>
          </a:prstGeom>
          <a:ln w="9525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0543" y="4097056"/>
            <a:ext cx="10667733" cy="2248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80" b="0">
                <a:solidFill>
                  <a:srgbClr val="8A817A"/>
                </a:solidFill>
                <a:latin typeface="Arial"/>
                <a:ea typeface="SimHei"/>
                <a:cs typeface="SimHei"/>
              </a:rPr>
              <a:t>五个负结果都留在报告里：正则化无效 · 轻量 TF 小数据崩 · 噪声下 CNN 垫底 · LoRA 初版失效 · 三旋钮无效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43" y="4550511"/>
            <a:ext cx="10667733" cy="3247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60" b="1">
                <a:solidFill>
                  <a:srgbClr val="1C1A17"/>
                </a:solidFill>
                <a:latin typeface="Times New Roman"/>
                <a:ea typeface="SimSun"/>
                <a:cs typeface="SimSun"/>
              </a:rPr>
              <a:t>我们没把「跑通」当成「做好」。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43" y="6293962"/>
            <a:ext cx="8381790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梁煜炜 · 贾智涵 · 王薪羽 · 陈泽玉　｜　谢谢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0384" y="6293962"/>
            <a:ext cx="1219169" cy="17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</a:pPr>
            <a:r>
              <a:rPr sz="840" b="0">
                <a:solidFill>
                  <a:srgbClr val="8A817A"/>
                </a:solidFill>
                <a:latin typeface="Consolas"/>
                <a:ea typeface="SimHei"/>
                <a:cs typeface="SimHei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